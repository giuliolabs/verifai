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7B4"/>
    <a:srgbClr val="AFCAE9"/>
    <a:srgbClr val="E0E9FB"/>
    <a:srgbClr val="B2CCEB"/>
    <a:srgbClr val="C9D8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59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71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1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1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188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750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87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81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5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148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98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C670622-C44E-08F2-3BB0-CB00B1A67C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8552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7ED0AE52-66B0-F7DD-99C7-44529FC18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" y="662694"/>
            <a:ext cx="12179040" cy="982687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1257B4"/>
                </a:solidFill>
              </a:rPr>
              <a:t>The Deepfake Detection Problem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374967A-EBB3-F3EA-B810-712F21A5F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0734" y="1518739"/>
            <a:ext cx="4949475" cy="3121548"/>
          </a:xfrm>
        </p:spPr>
        <p:txBody>
          <a:bodyPr anchor="ctr">
            <a:normAutofit/>
          </a:bodyPr>
          <a:lstStyle/>
          <a:p>
            <a:pPr algn="l"/>
            <a:r>
              <a:rPr lang="en-GB" dirty="0">
                <a:solidFill>
                  <a:srgbClr val="1257B4"/>
                </a:solidFill>
              </a:rPr>
              <a:t>Deepfakes threaten digital trust, security, and authenticity. Existing detectors struggle with:</a:t>
            </a:r>
          </a:p>
          <a:p>
            <a:pPr marL="457200" indent="-457200" algn="l">
              <a:buAutoNum type="arabicPeriod"/>
            </a:pPr>
            <a:r>
              <a:rPr lang="en-GB" dirty="0">
                <a:solidFill>
                  <a:srgbClr val="1257B4"/>
                </a:solidFill>
              </a:rPr>
              <a:t>Poor generalisation</a:t>
            </a:r>
          </a:p>
          <a:p>
            <a:pPr marL="457200" indent="-457200" algn="l">
              <a:buAutoNum type="arabicPeriod"/>
            </a:pPr>
            <a:r>
              <a:rPr lang="en-GB" dirty="0">
                <a:solidFill>
                  <a:srgbClr val="1257B4"/>
                </a:solidFill>
              </a:rPr>
              <a:t>Missing modalities</a:t>
            </a:r>
          </a:p>
          <a:p>
            <a:pPr marL="457200" indent="-457200" algn="l">
              <a:buAutoNum type="arabicPeriod"/>
            </a:pPr>
            <a:r>
              <a:rPr lang="en-GB" dirty="0">
                <a:solidFill>
                  <a:srgbClr val="1257B4"/>
                </a:solidFill>
              </a:rPr>
              <a:t>Limited interpretability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178EFB78-A72C-F2E3-6899-466082B976D7}"/>
              </a:ext>
            </a:extLst>
          </p:cNvPr>
          <p:cNvSpPr txBox="1">
            <a:spLocks/>
          </p:cNvSpPr>
          <p:nvPr/>
        </p:nvSpPr>
        <p:spPr>
          <a:xfrm>
            <a:off x="181185" y="4563519"/>
            <a:ext cx="11836115" cy="112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>
                <a:solidFill>
                  <a:srgbClr val="1257B4"/>
                </a:solidFill>
              </a:rPr>
              <a:t>Research Aim</a:t>
            </a:r>
            <a:r>
              <a:rPr lang="en-GB" dirty="0">
                <a:solidFill>
                  <a:srgbClr val="1257B4"/>
                </a:solidFill>
              </a:rPr>
              <a:t>: Develop an adaptive multimodal deepfake detection framework for real-world deployment</a:t>
            </a: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2A499C35-74F0-CB63-B213-9AD4AB367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209" y="1795382"/>
            <a:ext cx="2308369" cy="2308369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F3EDCC45-D3C6-3D60-5DC6-6586E25C2C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209" y="1945382"/>
            <a:ext cx="2308369" cy="2308369"/>
          </a:xfrm>
          <a:prstGeom prst="rect">
            <a:avLst/>
          </a:prstGeom>
        </p:spPr>
      </p:pic>
      <p:pic>
        <p:nvPicPr>
          <p:cNvPr id="34" name="Immagine 33">
            <a:extLst>
              <a:ext uri="{FF2B5EF4-FFF2-40B4-BE49-F238E27FC236}">
                <a16:creationId xmlns:a16="http://schemas.microsoft.com/office/drawing/2014/main" id="{469D1E6F-DB40-A772-0215-55875306A5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209" y="2095382"/>
            <a:ext cx="2308369" cy="2308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50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93311-24E7-DF4D-B578-D7413427F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3EAD4415-5213-6F47-E745-DE08343A1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DAB633BD-5914-B452-2747-7FAA5A2E9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41A4896-2211-A37F-FCA7-D02330DDCC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8552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92261BBA-9E3F-CD78-4F8B-9C20ED071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482" y="662694"/>
            <a:ext cx="12198482" cy="982687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1257B4"/>
                </a:solidFill>
              </a:rPr>
              <a:t>VerifAI Architecture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0438A4C4-985F-E6EA-854D-7348437F955A}"/>
              </a:ext>
            </a:extLst>
          </p:cNvPr>
          <p:cNvSpPr txBox="1">
            <a:spLocks/>
          </p:cNvSpPr>
          <p:nvPr/>
        </p:nvSpPr>
        <p:spPr>
          <a:xfrm>
            <a:off x="181185" y="4471464"/>
            <a:ext cx="11836115" cy="1121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dirty="0">
              <a:solidFill>
                <a:srgbClr val="1257B4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25F3634-AEDB-85F6-872E-C30D82648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232" y="1554085"/>
            <a:ext cx="7499658" cy="3749830"/>
          </a:xfrm>
          <a:prstGeom prst="rect">
            <a:avLst/>
          </a:prstGeom>
        </p:spPr>
      </p:pic>
      <p:sp>
        <p:nvSpPr>
          <p:cNvPr id="9" name="Sottotitolo 2">
            <a:extLst>
              <a:ext uri="{FF2B5EF4-FFF2-40B4-BE49-F238E27FC236}">
                <a16:creationId xmlns:a16="http://schemas.microsoft.com/office/drawing/2014/main" id="{52313D44-E483-F109-28E4-A31C4F9B7C79}"/>
              </a:ext>
            </a:extLst>
          </p:cNvPr>
          <p:cNvSpPr txBox="1">
            <a:spLocks/>
          </p:cNvSpPr>
          <p:nvPr/>
        </p:nvSpPr>
        <p:spPr>
          <a:xfrm>
            <a:off x="6480" y="5383601"/>
            <a:ext cx="12179039" cy="682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1257B4"/>
                </a:solidFill>
              </a:rPr>
              <a:t>Key innovation:</a:t>
            </a:r>
            <a:r>
              <a:rPr lang="en-GB" dirty="0">
                <a:solidFill>
                  <a:srgbClr val="1257B4"/>
                </a:solidFill>
              </a:rPr>
              <a:t> Dynamic routing enables fallback visual-only detection when audio is unavailable</a:t>
            </a:r>
          </a:p>
        </p:txBody>
      </p:sp>
    </p:spTree>
    <p:extLst>
      <p:ext uri="{BB962C8B-B14F-4D97-AF65-F5344CB8AC3E}">
        <p14:creationId xmlns:p14="http://schemas.microsoft.com/office/powerpoint/2010/main" val="2331898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F999E3-05C6-A95A-85FA-B98A809B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C2FD2A27-2254-4389-5BA5-F3733A21FA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0059DFFB-CCF4-52B6-3C5B-81C0E2C44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4D7BDA98-6C33-672F-86A0-DC49DB58E4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8552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63DDCC3F-01E6-C55E-9391-FE13C4A7C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80" y="662694"/>
            <a:ext cx="12185520" cy="982687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1257B4"/>
                </a:solidFill>
              </a:rPr>
              <a:t>Experimental Results</a:t>
            </a:r>
          </a:p>
        </p:txBody>
      </p:sp>
      <p:sp>
        <p:nvSpPr>
          <p:cNvPr id="10" name="Sottotitolo 2">
            <a:extLst>
              <a:ext uri="{FF2B5EF4-FFF2-40B4-BE49-F238E27FC236}">
                <a16:creationId xmlns:a16="http://schemas.microsoft.com/office/drawing/2014/main" id="{C302DAB4-0188-9C90-1B9B-0EA56417CB08}"/>
              </a:ext>
            </a:extLst>
          </p:cNvPr>
          <p:cNvSpPr txBox="1">
            <a:spLocks/>
          </p:cNvSpPr>
          <p:nvPr/>
        </p:nvSpPr>
        <p:spPr>
          <a:xfrm>
            <a:off x="6480" y="5223331"/>
            <a:ext cx="12191999" cy="622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solidFill>
                  <a:srgbClr val="1257B4"/>
                </a:solidFill>
              </a:rPr>
              <a:t>Strong generalisation, stable convergence, and robust under real-world variability</a:t>
            </a:r>
          </a:p>
        </p:txBody>
      </p:sp>
      <p:graphicFrame>
        <p:nvGraphicFramePr>
          <p:cNvPr id="7" name="Tabella 6">
            <a:extLst>
              <a:ext uri="{FF2B5EF4-FFF2-40B4-BE49-F238E27FC236}">
                <a16:creationId xmlns:a16="http://schemas.microsoft.com/office/drawing/2014/main" id="{83423699-5847-EE5A-0794-CFB013F32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95207"/>
              </p:ext>
            </p:extLst>
          </p:nvPr>
        </p:nvGraphicFramePr>
        <p:xfrm>
          <a:off x="6222827" y="1596863"/>
          <a:ext cx="3765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760">
                  <a:extLst>
                    <a:ext uri="{9D8B030D-6E8A-4147-A177-3AD203B41FA5}">
                      <a16:colId xmlns:a16="http://schemas.microsoft.com/office/drawing/2014/main" val="1853766694"/>
                    </a:ext>
                  </a:extLst>
                </a:gridCol>
                <a:gridCol w="1882760">
                  <a:extLst>
                    <a:ext uri="{9D8B030D-6E8A-4147-A177-3AD203B41FA5}">
                      <a16:colId xmlns:a16="http://schemas.microsoft.com/office/drawing/2014/main" val="2625447534"/>
                    </a:ext>
                  </a:extLst>
                </a:gridCol>
              </a:tblGrid>
              <a:tr h="282309">
                <a:tc>
                  <a:txBody>
                    <a:bodyPr/>
                    <a:lstStyle/>
                    <a:p>
                      <a:r>
                        <a:rPr lang="en-GB" dirty="0"/>
                        <a:t>Metric</a:t>
                      </a:r>
                    </a:p>
                  </a:txBody>
                  <a:tcPr>
                    <a:solidFill>
                      <a:srgbClr val="1257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Score</a:t>
                      </a:r>
                    </a:p>
                  </a:txBody>
                  <a:tcPr>
                    <a:solidFill>
                      <a:srgbClr val="1257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1082111"/>
                  </a:ext>
                </a:extLst>
              </a:tr>
              <a:tr h="28230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AFCA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rgbClr val="AFC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025065"/>
                  </a:ext>
                </a:extLst>
              </a:tr>
              <a:tr h="28230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ROC-AUC</a:t>
                      </a:r>
                    </a:p>
                  </a:txBody>
                  <a:tcPr>
                    <a:solidFill>
                      <a:srgbClr val="E0E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0.996</a:t>
                      </a:r>
                    </a:p>
                  </a:txBody>
                  <a:tcPr>
                    <a:solidFill>
                      <a:srgbClr val="E0E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324018"/>
                  </a:ext>
                </a:extLst>
              </a:tr>
              <a:tr h="282309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AFCA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rgbClr val="1257B4"/>
                          </a:solidFill>
                        </a:rPr>
                        <a:t>0.84</a:t>
                      </a:r>
                    </a:p>
                  </a:txBody>
                  <a:tcPr>
                    <a:solidFill>
                      <a:srgbClr val="AFC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2610"/>
                  </a:ext>
                </a:extLst>
              </a:tr>
            </a:tbl>
          </a:graphicData>
        </a:graphic>
      </p:graphicFrame>
      <p:pic>
        <p:nvPicPr>
          <p:cNvPr id="13" name="Immagine 12">
            <a:extLst>
              <a:ext uri="{FF2B5EF4-FFF2-40B4-BE49-F238E27FC236}">
                <a16:creationId xmlns:a16="http://schemas.microsoft.com/office/drawing/2014/main" id="{F9CAC398-2774-F1F3-838E-37108CC0B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973" y="1411489"/>
            <a:ext cx="5067786" cy="3800839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58D8CABE-4B7B-A5D3-781D-F1D6C9896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5587" y="3172007"/>
            <a:ext cx="1882760" cy="188276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9EDE0A7D-1A08-F0EC-6B0C-3AEDA06484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2827" y="3172009"/>
            <a:ext cx="1882760" cy="188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84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2990E-6990-89CF-3499-03F1AB736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B5607380-12BF-BB31-66E1-C6100483E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71DF1564-9FFC-DE9D-65AC-D8A60C4A0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76B56383-3A3C-E593-D86B-B8B96A2A25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85522" cy="6858000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AED1AAB7-4BEC-3C6A-F179-1AA1250CD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6482" y="662694"/>
            <a:ext cx="12198482" cy="982687"/>
          </a:xfrm>
        </p:spPr>
        <p:txBody>
          <a:bodyPr anchor="t">
            <a:normAutofit/>
          </a:bodyPr>
          <a:lstStyle/>
          <a:p>
            <a:r>
              <a:rPr lang="en-GB" dirty="0">
                <a:solidFill>
                  <a:srgbClr val="1257B4"/>
                </a:solidFill>
              </a:rPr>
              <a:t>System Demonstration</a:t>
            </a:r>
          </a:p>
        </p:txBody>
      </p:sp>
      <p:pic>
        <p:nvPicPr>
          <p:cNvPr id="7" name="00-15-45">
            <a:hlinkClick r:id="" action="ppaction://media"/>
            <a:extLst>
              <a:ext uri="{FF2B5EF4-FFF2-40B4-BE49-F238E27FC236}">
                <a16:creationId xmlns:a16="http://schemas.microsoft.com/office/drawing/2014/main" id="{4B6AE670-6899-BE1F-9285-6B5A2265FEA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8016" t="11696" r="9448" b="8743"/>
          <a:stretch>
            <a:fillRect/>
          </a:stretch>
        </p:blipFill>
        <p:spPr>
          <a:xfrm>
            <a:off x="2070367" y="1348496"/>
            <a:ext cx="8044783" cy="484681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96C9B6E-B6C5-2F7F-9309-3A05CF53F72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04" y="5530540"/>
            <a:ext cx="1239968" cy="1239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6175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2783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76</Words>
  <Application>Microsoft Office PowerPoint</Application>
  <PresentationFormat>Widescreen</PresentationFormat>
  <Paragraphs>19</Paragraphs>
  <Slides>4</Slides>
  <Notes>0</Notes>
  <HiddenSlides>0</HiddenSlides>
  <MMClips>1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The Deepfake Detection Problem</vt:lpstr>
      <vt:lpstr>VerifAI Architecture</vt:lpstr>
      <vt:lpstr>Experimental Results</vt:lpstr>
      <vt:lpstr>System 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giulio dajani</dc:creator>
  <cp:lastModifiedBy>giulio dajani</cp:lastModifiedBy>
  <cp:revision>2</cp:revision>
  <dcterms:created xsi:type="dcterms:W3CDTF">2026-04-21T21:06:49Z</dcterms:created>
  <dcterms:modified xsi:type="dcterms:W3CDTF">2026-04-21T23:32:09Z</dcterms:modified>
</cp:coreProperties>
</file>